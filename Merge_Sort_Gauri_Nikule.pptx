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02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Divide. Conquer. Merge.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9B44C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416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(DAA)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74320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743200" y="40416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Gauri Nikule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206240" y="3794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206240" y="40416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25070521262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577840" y="3794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577840" y="40416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0" y="40416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Nagpur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Comparison-based sorting algorithm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Divide and Conquer technique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array into smaller subarrays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sorts each part, then merges them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Devised by John von Neumann in 1945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7889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66"/>
                </a:solidFill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67128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67128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7889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66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831336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parts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02936" y="27889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66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95544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95544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67144" y="27889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66"/>
                </a:solidFill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59752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59752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log n)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24612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space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O(n)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98932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Steps.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Sorted Array.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2560320" cy="457200"/>
          </a:xfrm>
          <a:prstGeom prst="rect">
            <a:avLst/>
          </a:prstGeom>
          <a:solidFill>
            <a:srgbClr val="1F7A6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DIVIDE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array into two halves, again and again.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38, 9, 27]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38]   [9, 27]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 [38]   [9] [27]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560320" cy="4572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CONQUER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572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 until each subarray has a single element (already sorted).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1 = sorted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case reached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combining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051560"/>
            <a:ext cx="2560320" cy="45720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MERGE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572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front elements of two sorted halves and take the smaller.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38] + [9, 27]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[9, 12, 27, 38]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383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[12, 38] and [9, 27], step by step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&lt; 12, take 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3703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603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9  12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&lt; 27, take 12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703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9  12  27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&lt; 38, take 27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703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9  12  27  38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remaining 38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7 Numbers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Sorted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solidFill>
            <a:srgbClr val="1F7A6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 (break down)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solidFill>
            <a:srgbClr val="E457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 (combine in order)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3716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12332B"/>
          </a:solidFill>
          <a:ln w="12700">
            <a:solidFill>
              <a:srgbClr val="12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[38, 12, 27, 43, 9, 31, 18]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86968" y="2103120"/>
            <a:ext cx="1755648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21031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[38, 12, 27, 43]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15768" y="2103120"/>
            <a:ext cx="1335024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31, 18]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[38, 12]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28216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28216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[27, 43]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15768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15768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31]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283464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03320" y="28346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88136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8136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55064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55064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21992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21992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[43]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88920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88920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55848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22776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22776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13716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12332B"/>
          </a:solidFill>
          <a:ln w="12700">
            <a:solidFill>
              <a:srgbClr val="1233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663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12, 18, 27, 31, 38, 43]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93208" y="2103120"/>
            <a:ext cx="1755648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93208" y="21031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[12, 27, 38, 43]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22008" y="2103120"/>
            <a:ext cx="1335024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22008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18, 31]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46904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46904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[12, 38]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34456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34456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[27, 43]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22008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22008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31]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09560" y="283464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909560" y="28346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27448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27448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[38]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94376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94376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61304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861304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28232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28232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[43]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95160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995160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562088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62088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[31]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129016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129016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use mid = floor((left + right) / 2), so the left half gets the extra element.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Logic Behind </a:t>
            </a:r>
            <a:r>
              <a:rPr lang="en-US" sz="28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0B211C"/>
          </a:solidFill>
          <a:ln w="12700">
            <a:solidFill>
              <a:srgbClr val="2C5A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MERGE-SORT(A, left, right)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left &lt; right: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floor((left + right) / 2)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MERGE-SORT(A, left, mid)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MERGE-SORT(A, mid + 1, right)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MERGE(A, left, mid, right)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MERGE WORKS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37160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front elements of both sorted halves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smaller one into the output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the pointer in that half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half runs out, copy the rest of the other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2A2412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576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subarray with zero or one element is already sorted, so the recursion stops there.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3520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57800" y="379476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3794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79476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794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size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379476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3794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41788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4178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both halves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41788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178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43800" y="41788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4178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Merge Sort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log n)?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4297680" cy="548640"/>
          </a:xfrm>
          <a:prstGeom prst="rect">
            <a:avLst/>
          </a:prstGeom>
          <a:solidFill>
            <a:srgbClr val="1233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2T(n/2) + O(n)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73736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3C9A8B"/>
          </a:solidFill>
          <a:ln w="12700">
            <a:solidFill>
              <a:srgbClr val="3C9A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737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problem of size n  →  n work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042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2304288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304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problems of size n/2  →  n work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8712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871216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3C9A8B"/>
          </a:solidFill>
          <a:ln w="12700">
            <a:solidFill>
              <a:srgbClr val="3C9A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8712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problems of size n/4  →  n work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4381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log₂ 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3438144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54480" y="34381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problems of size 1  →  n work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 levels  ×  n work per level  =  O(n log 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74920" y="10058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389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1773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1773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157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27889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5780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arrays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stack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584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3968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auxiliary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9684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 Stand?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large datasets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linked lists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44475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O(n) extra space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and memory overhead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 very small arrays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00584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44475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large datasets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sorting (data larger than RAM)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linked lists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sorting of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337560"/>
            <a:ext cx="73152" cy="1234440"/>
          </a:xfrm>
          <a:prstGeom prst="rect">
            <a:avLst/>
          </a:prstGeom>
          <a:solidFill>
            <a:srgbClr val="1F7A6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worst case, stable, O(n) auxiliary space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3337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3337560"/>
            <a:ext cx="73152" cy="1234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7472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Sort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average, O(n²) worst case, typically in-place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3337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3337560"/>
            <a:ext cx="73152" cy="123444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Heap Sort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worst case, O(1) auxiliary space, not stable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Chaos </a:t>
            </a:r>
            <a:r>
              <a:rPr lang="en-US" sz="28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Order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0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9848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36776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36776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03704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03704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70632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0632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04488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0448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960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21808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2180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88736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88736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55664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55664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22592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22592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56448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5644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19659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C4A3F"/>
          </a:solidFill>
          <a:ln w="12700">
            <a:solidFill>
              <a:srgbClr val="1C4A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17720" y="19659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C4A3F"/>
          </a:solidFill>
          <a:ln w="12700">
            <a:solidFill>
              <a:srgbClr val="1C4A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060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0060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in all cases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31089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C4A3F"/>
          </a:solidFill>
          <a:ln w="12700">
            <a:solidFill>
              <a:srgbClr val="1C4A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SPACE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for array implementations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617720" y="31089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C4A3F"/>
          </a:solidFill>
          <a:ln w="12700">
            <a:solidFill>
              <a:srgbClr val="1C4A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0060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800600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when the merge takes from the left half on ties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“Divide the problem, solve the smaller parts, and merge the results.”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Claude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902</Words>
  <Application>Microsoft Office PowerPoint</Application>
  <PresentationFormat>On-screen Show (16:9)</PresentationFormat>
  <Paragraphs>206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Algorithm</dc:title>
  <dc:subject>PptxGenJS Presentation</dc:subject>
  <dc:creator>Gauri Nikule</dc:creator>
  <cp:lastModifiedBy>Gauri Nikule</cp:lastModifiedBy>
  <cp:revision>2</cp:revision>
  <dcterms:created xsi:type="dcterms:W3CDTF">2026-10-19T18:44:43Z</dcterms:created>
  <dcterms:modified xsi:type="dcterms:W3CDTF">2026-10-19T19:47:12Z</dcterms:modified>
</cp:coreProperties>
</file>